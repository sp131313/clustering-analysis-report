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Customer Churn Analysis | 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• Data Preparation and Clustering Analysis</a:t>
            </a:r>
          </a:p>
          <a:p>
            <a:pPr>
              <a:spcAft>
                <a:spcPts val="1200"/>
              </a:spcAft>
              <a:defRPr sz="1900"/>
            </a:pPr>
            <a:r>
              <a:t>• Preprocessed dataset, train/test split, encoding and scaling</a:t>
            </a:r>
          </a:p>
          <a:p>
            <a:pPr>
              <a:spcAft>
                <a:spcPts val="1200"/>
              </a:spcAft>
              <a:defRPr sz="1900"/>
            </a:pPr>
            <a:r>
              <a:t>• Elbow method, K-Means, cluster visualisation and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Stage 2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• Prepare reliable data for analysis and modelling</a:t>
            </a:r>
          </a:p>
          <a:p>
            <a:pPr>
              <a:spcAft>
                <a:spcPts val="1200"/>
              </a:spcAft>
              <a:defRPr sz="1900"/>
            </a:pPr>
            <a:r>
              <a:t>• Handle missing data and categorical variables</a:t>
            </a:r>
          </a:p>
          <a:p>
            <a:pPr>
              <a:spcAft>
                <a:spcPts val="1200"/>
              </a:spcAft>
              <a:defRPr sz="1900"/>
            </a:pPr>
            <a:r>
              <a:t>• Create training and testing sets</a:t>
            </a:r>
          </a:p>
          <a:p>
            <a:pPr>
              <a:spcAft>
                <a:spcPts val="1200"/>
              </a:spcAft>
              <a:defRPr sz="1900"/>
            </a:pPr>
            <a:r>
              <a:t>• Apply appropriate scaling</a:t>
            </a:r>
          </a:p>
          <a:p>
            <a:pPr>
              <a:spcAft>
                <a:spcPts val="1200"/>
              </a:spcAft>
              <a:defRPr sz="1900"/>
            </a:pPr>
            <a:r>
              <a:t>• Identify distinct customer segments with clustering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Dataset and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• 7,043 records and 10 columns</a:t>
            </a:r>
          </a:p>
          <a:p>
            <a:pPr>
              <a:spcAft>
                <a:spcPts val="1200"/>
              </a:spcAft>
              <a:defRPr sz="1900"/>
            </a:pPr>
            <a:r>
              <a:t>• No missing values in the supplied fields</a:t>
            </a:r>
          </a:p>
          <a:p>
            <a:pPr>
              <a:spcAft>
                <a:spcPts val="1200"/>
              </a:spcAft>
              <a:defRPr sz="1900"/>
            </a:pPr>
            <a:r>
              <a:t>• 1,869 churn cases and 5,174 non-churn cases</a:t>
            </a:r>
          </a:p>
          <a:p>
            <a:pPr>
              <a:spcAft>
                <a:spcPts val="1200"/>
              </a:spcAft>
              <a:defRPr sz="1900"/>
            </a:pPr>
            <a:r>
              <a:t>• 302 exact duplicate rows identified</a:t>
            </a:r>
          </a:p>
          <a:p>
            <a:pPr>
              <a:spcAft>
                <a:spcPts val="1200"/>
              </a:spcAft>
              <a:defRPr sz="1900"/>
            </a:pPr>
            <a:r>
              <a:t>• No customer ID was supplied, so duplicates were retained and documented as a limitation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Data Preparation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• Categorical variables were one-hot encoded</a:t>
            </a:r>
          </a:p>
          <a:p>
            <a:pPr>
              <a:spcAft>
                <a:spcPts val="1200"/>
              </a:spcAft>
              <a:defRPr sz="1900"/>
            </a:pPr>
            <a:r>
              <a:t>• Numerical variables were standardised with StandardScaler</a:t>
            </a:r>
          </a:p>
          <a:p>
            <a:pPr>
              <a:spcAft>
                <a:spcPts val="1200"/>
              </a:spcAft>
              <a:defRPr sz="1900"/>
            </a:pPr>
            <a:r>
              <a:t>• 80% training and 20% testing split</a:t>
            </a:r>
          </a:p>
          <a:p>
            <a:pPr>
              <a:spcAft>
                <a:spcPts val="1200"/>
              </a:spcAft>
              <a:defRPr sz="1900"/>
            </a:pPr>
            <a:r>
              <a:t>• Split was stratified using the Churn target</a:t>
            </a:r>
          </a:p>
          <a:p>
            <a:pPr>
              <a:spcAft>
                <a:spcPts val="1200"/>
              </a:spcAft>
              <a:defRPr sz="1900"/>
            </a:pPr>
            <a:r>
              <a:t>• Preprocessing was fitted on training data before transforming test data</a:t>
            </a:r>
          </a:p>
          <a:p>
            <a:pPr>
              <a:spcAft>
                <a:spcPts val="1200"/>
              </a:spcAft>
              <a:defRPr sz="1900"/>
            </a:pPr>
            <a:r>
              <a:t>• Saved preprocessing pipeline supports reproducibility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Training and Testing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• Training set: 5,634 records</a:t>
            </a:r>
          </a:p>
          <a:p>
            <a:pPr>
              <a:spcAft>
                <a:spcPts val="1200"/>
              </a:spcAft>
              <a:defRPr sz="1900"/>
            </a:pPr>
            <a:r>
              <a:t>• Testing set: 1,409 records</a:t>
            </a:r>
          </a:p>
          <a:p>
            <a:pPr>
              <a:spcAft>
                <a:spcPts val="1200"/>
              </a:spcAft>
              <a:defRPr sz="1900"/>
            </a:pPr>
            <a:r>
              <a:t>• Stratification preserves the churn class distribution</a:t>
            </a:r>
          </a:p>
          <a:p>
            <a:pPr>
              <a:spcAft>
                <a:spcPts val="1200"/>
              </a:spcAft>
              <a:defRPr sz="1900"/>
            </a:pPr>
            <a:r>
              <a:t>• Training data is used for fitting</a:t>
            </a:r>
          </a:p>
          <a:p>
            <a:pPr>
              <a:spcAft>
                <a:spcPts val="1200"/>
              </a:spcAft>
              <a:defRPr sz="1900"/>
            </a:pPr>
            <a:r>
              <a:t>• Testing data remains separate for later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Elbow Method</a:t>
            </a:r>
          </a:p>
        </p:txBody>
      </p:sp>
      <p:pic>
        <p:nvPicPr>
          <p:cNvPr id="3" name="Picture 2" descr="elbow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858000" cy="44087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26679" y="1371600"/>
            <a:ext cx="3840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• Compared K-Means solutions across multiple k values</a:t>
            </a:r>
          </a:p>
          <a:p>
            <a:pPr>
              <a:spcAft>
                <a:spcPts val="1200"/>
              </a:spcAft>
              <a:defRPr sz="1900"/>
            </a:pPr>
            <a:r>
              <a:t>• Used within-cluster sum of squares</a:t>
            </a:r>
          </a:p>
          <a:p>
            <a:pPr>
              <a:spcAft>
                <a:spcPts val="1200"/>
              </a:spcAft>
              <a:defRPr sz="1900"/>
            </a:pPr>
            <a:r>
              <a:t>• The practical elbow supported k = 4</a:t>
            </a:r>
          </a:p>
          <a:p>
            <a:pPr>
              <a:spcAft>
                <a:spcPts val="1200"/>
              </a:spcAft>
              <a:defRPr sz="1900"/>
            </a:pPr>
            <a:r>
              <a:t>• Four clusters were selected for Stage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K-Means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• K-Means trained with k = 4</a:t>
            </a:r>
          </a:p>
          <a:p>
            <a:pPr>
              <a:spcAft>
                <a:spcPts val="1200"/>
              </a:spcAft>
              <a:defRPr sz="1900"/>
            </a:pPr>
            <a:r>
              <a:t>• Used scaled numerical and one-hot encoded categorical features</a:t>
            </a:r>
          </a:p>
          <a:p>
            <a:pPr>
              <a:spcAft>
                <a:spcPts val="1200"/>
              </a:spcAft>
              <a:defRPr sz="1900"/>
            </a:pPr>
            <a:r>
              <a:t>• Churn was excluded from model fitting because clustering is unsupervised</a:t>
            </a:r>
          </a:p>
          <a:p>
            <a:pPr>
              <a:spcAft>
                <a:spcPts val="1200"/>
              </a:spcAft>
              <a:defRPr sz="1900"/>
            </a:pPr>
            <a:r>
              <a:t>• Random state = 42 and n_init = 20 for reproducibility</a:t>
            </a:r>
          </a:p>
          <a:p>
            <a:pPr>
              <a:spcAft>
                <a:spcPts val="1200"/>
              </a:spcAft>
              <a:defRPr sz="1900"/>
            </a:pPr>
            <a:r>
              <a:t>• Trained model and preprocessing objects were saved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Cluster Visualisation</a:t>
            </a:r>
          </a:p>
        </p:txBody>
      </p:sp>
      <p:pic>
        <p:nvPicPr>
          <p:cNvPr id="3" name="Picture 2" descr="cluster_visuali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858000" cy="489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26679" y="1371600"/>
            <a:ext cx="3840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• PCA was used only to display the segments in two dimensions</a:t>
            </a:r>
          </a:p>
          <a:p>
            <a:pPr>
              <a:spcAft>
                <a:spcPts val="1200"/>
              </a:spcAft>
              <a:defRPr sz="1900"/>
            </a:pPr>
            <a:r>
              <a:t>• Four customer groups were profiled</a:t>
            </a:r>
          </a:p>
          <a:p>
            <a:pPr>
              <a:spcAft>
                <a:spcPts val="1200"/>
              </a:spcAft>
              <a:defRPr sz="1900"/>
            </a:pPr>
            <a:r>
              <a:t>• Profiles include tenure, monthly charges, senior citizen rate and observed churn</a:t>
            </a:r>
          </a:p>
          <a:p>
            <a:pPr>
              <a:spcAft>
                <a:spcPts val="1200"/>
              </a:spcAft>
              <a:defRPr sz="1900"/>
            </a:pPr>
            <a:r>
              <a:t>• Churn was used after clustering for interpretation, not to create the clusters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Customer Segment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• Cluster 0: Newer Higher-Cost Customers</a:t>
            </a:r>
          </a:p>
          <a:p>
            <a:pPr>
              <a:spcAft>
                <a:spcPts val="1200"/>
              </a:spcAft>
              <a:defRPr sz="1900"/>
            </a:pPr>
            <a:r>
              <a:t>• Cluster 1: Lower-Cost Mid-Tenure Customers</a:t>
            </a:r>
          </a:p>
          <a:p>
            <a:pPr>
              <a:spcAft>
                <a:spcPts val="1200"/>
              </a:spcAft>
              <a:defRPr sz="1900"/>
            </a:pPr>
            <a:r>
              <a:t>• Cluster 2: Long-Tenure Higher-Value Customers</a:t>
            </a:r>
          </a:p>
          <a:p>
            <a:pPr>
              <a:spcAft>
                <a:spcPts val="1200"/>
              </a:spcAft>
              <a:defRPr sz="1900"/>
            </a:pPr>
            <a:r>
              <a:t>• Cluster 3: Senior Higher-Risk Customers</a:t>
            </a:r>
          </a:p>
          <a:p>
            <a:pPr>
              <a:spcAft>
                <a:spcPts val="1200"/>
              </a:spcAft>
              <a:defRPr sz="1900"/>
            </a:pPr>
            <a:r>
              <a:t>• Labels are descriptive, not causal conclusions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• Customer groups differ in tenure, monthly charges and observed churn</a:t>
            </a:r>
          </a:p>
          <a:p>
            <a:pPr>
              <a:spcAft>
                <a:spcPts val="1200"/>
              </a:spcAft>
              <a:defRPr sz="1900"/>
            </a:pPr>
            <a:r>
              <a:t>• Some segments show higher observed churn and may warrant closer retention analysis</a:t>
            </a:r>
          </a:p>
          <a:p>
            <a:pPr>
              <a:spcAft>
                <a:spcPts val="1200"/>
              </a:spcAft>
              <a:defRPr sz="1900"/>
            </a:pPr>
            <a:r>
              <a:t>• Long-tenure groups provide a useful comparison with newer groups</a:t>
            </a:r>
          </a:p>
          <a:p>
            <a:pPr>
              <a:spcAft>
                <a:spcPts val="1200"/>
              </a:spcAft>
              <a:defRPr sz="1900"/>
            </a:pPr>
            <a:r>
              <a:t>• Segments can support later predictive modelling and retention planning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Stage 2 Deliverables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• ✓ Preprocessed dataset</a:t>
            </a:r>
          </a:p>
          <a:p>
            <a:pPr>
              <a:spcAft>
                <a:spcPts val="1200"/>
              </a:spcAft>
              <a:defRPr sz="1900"/>
            </a:pPr>
            <a:r>
              <a:t>• ✓ Training and testing sets</a:t>
            </a:r>
          </a:p>
          <a:p>
            <a:pPr>
              <a:spcAft>
                <a:spcPts val="1200"/>
              </a:spcAft>
              <a:defRPr sz="1900"/>
            </a:pPr>
            <a:r>
              <a:t>• ✓ Scaling and encoding documentation</a:t>
            </a:r>
          </a:p>
          <a:p>
            <a:pPr>
              <a:spcAft>
                <a:spcPts val="1200"/>
              </a:spcAft>
              <a:defRPr sz="1900"/>
            </a:pPr>
            <a:r>
              <a:t>• ✓ Elbow method and selected cluster count</a:t>
            </a:r>
          </a:p>
          <a:p>
            <a:pPr>
              <a:spcAft>
                <a:spcPts val="1200"/>
              </a:spcAft>
              <a:defRPr sz="1900"/>
            </a:pPr>
            <a:r>
              <a:t>• ✓ Trained K-Means model</a:t>
            </a:r>
          </a:p>
          <a:p>
            <a:pPr>
              <a:spcAft>
                <a:spcPts val="1200"/>
              </a:spcAft>
              <a:defRPr sz="1900"/>
            </a:pPr>
            <a:r>
              <a:t>• ✓ Clustered data and profiles</a:t>
            </a:r>
          </a:p>
          <a:p>
            <a:pPr>
              <a:spcAft>
                <a:spcPts val="1200"/>
              </a:spcAft>
              <a:defRPr sz="1900"/>
            </a:pPr>
            <a:r>
              <a:t>• ✓ Cluster visualisation, labels and interpretation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Next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• Use prepared data for supervised churn predictive modelling</a:t>
            </a:r>
          </a:p>
          <a:p>
            <a:pPr>
              <a:spcAft>
                <a:spcPts val="1200"/>
              </a:spcAft>
              <a:defRPr sz="1900"/>
            </a:pPr>
            <a:r>
              <a:t>• Evaluate models using held-out testing data</a:t>
            </a:r>
          </a:p>
          <a:p>
            <a:pPr>
              <a:spcAft>
                <a:spcPts val="1200"/>
              </a:spcAft>
              <a:defRPr sz="1900"/>
            </a:pPr>
            <a:r>
              <a:t>• Compare model performance</a:t>
            </a:r>
          </a:p>
          <a:p>
            <a:pPr>
              <a:spcAft>
                <a:spcPts val="1200"/>
              </a:spcAft>
              <a:defRPr sz="1900"/>
            </a:pPr>
            <a:r>
              <a:t>• Combine predictive results with customer segments</a:t>
            </a:r>
          </a:p>
          <a:p>
            <a:pPr>
              <a:spcAft>
                <a:spcPts val="1200"/>
              </a:spcAft>
              <a:defRPr sz="1900"/>
            </a:pPr>
            <a:r>
              <a:t>• Develop evidence-based retention recommendations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• Customer Churn Analysis | Stage 2</a:t>
            </a:r>
          </a:p>
          <a:p>
            <a:pPr>
              <a:spcAft>
                <a:spcPts val="1200"/>
              </a:spcAft>
              <a:defRPr sz="1900"/>
            </a:pPr>
            <a:r>
              <a:t>• Data Preparation and Clustering</a:t>
            </a:r>
          </a:p>
          <a:p>
            <a:pPr>
              <a:spcAft>
                <a:spcPts val="1200"/>
              </a:spcAft>
              <a:defRPr sz="1900"/>
            </a:pPr>
            <a:r>
              <a:t>• Jira is used to track project progress and next 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